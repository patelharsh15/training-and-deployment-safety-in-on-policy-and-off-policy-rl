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37E"/>
                </a:solidFill>
                <a:latin typeface="Calibri"/>
              </a:defRPr>
            </a:pPr>
            <a:r>
              <a:t>Training and Deployment Safety in</a:t>
            </a:r>
            <a:br/>
            <a:r>
              <a:t>On-Policy and Off-Policy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Farina Salman  •  Rachna Sunilkumar Deshpande  •  Abdulaziz Al-Tayar  •  Harsh Patel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University of Ottawa — CSI 5180 / CEG 5270: Topics 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1.  Motivation &amp; Problem Statement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2.  Gap in the Literature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3.  Research Questions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4.  Experimental Methodology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5.  Results — MuJoCo Environments (Hopper-v4, HalfCheetah-v4)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6.  Results — Safety-Gymnasium (SafetyPointGoal1-v0)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7.  Qualitative Video Analysis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8.  Discussion &amp; Algorithmic Insights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9.  Limitations &amp; Future Work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333333"/>
                </a:solidFill>
                <a:latin typeface="Calibri"/>
              </a:defRPr>
            </a:pPr>
            <a:r>
              <a:t>10. Conclusion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1.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RL is being deployed in safety-critical domains: autonomous vehicles, robotic surgery, industrial control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PPO (on-policy) and SAC (off-policy) achieve high rewards, but behave very differently in terms of stability, safety, and reliability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 unsafe action in a real-world system can cause physical damage, injury, or catastrophic failure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We need to understand which algorithm is safer before deploying RL in the real world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371600"/>
            <a:ext cx="3840480" cy="22860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37E"/>
                </a:solidFill>
              </a:defRPr>
            </a:pPr>
            <a:r>
              <a:t>Core Question: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If we give PPO and SAC the exact same compute budget, environments, and evaluation protocol — which one produces policies that are safer to deploy on a physical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2. Gap in the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3593"/>
                </a:solidFill>
                <a:latin typeface="Calibri"/>
              </a:defRPr>
            </a:pPr>
            <a:r>
              <a:t>What prior work covers: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Cumulative reward comparisons [Schulman'17, Haarnoja'18]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Sample efficiency benchmarks [Henderson'18]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Implementation details [Engstrom'20]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On-policy best practices [Andrychowicz'21]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32F2F"/>
                </a:solidFill>
                <a:latin typeface="Calibri"/>
              </a:defRPr>
            </a:pPr>
            <a:r>
              <a:t>What is missing: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• Training and deployment safety comparison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D32F2F"/>
                </a:solidFill>
                <a:latin typeface="Calibri"/>
              </a:defRPr>
            </a:pPr>
            <a:r>
              <a:t>• Policy smoothness under matched conditions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D32F2F"/>
                </a:solidFill>
                <a:latin typeface="Calibri"/>
              </a:defRPr>
            </a:pPr>
            <a:r>
              <a:t>• Constraint adherence in safety-critical envs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D32F2F"/>
                </a:solidFill>
                <a:latin typeface="Calibri"/>
              </a:defRPr>
            </a:pPr>
            <a:r>
              <a:t>• Recovery from perturbations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D32F2F"/>
                </a:solidFill>
                <a:latin typeface="Calibri"/>
              </a:defRPr>
            </a:pPr>
            <a:r>
              <a:t>• Risk sensitivity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3716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237E"/>
                </a:solidFill>
              </a:defRPr>
            </a:pPr>
            <a:r>
              <a:t>Our Contribution: A direct, reproducible safety comparison of PPO vs SAC using practical deployment metrics (action smoothness, constraint violations, recovery, gradient stability) across both standard and constrained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3. Research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Primary RQ: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In which environmental conditions will PPO have more stable and safer behavior compared to SAC for both training and deployment, when they both have the same compute budgets and evaluation protocols?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Secondary RQ: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What are the algorithmic mechanisms that cause the observed differences in stability and safety between PPO and SAC?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We evaluate the secondary RQ through gradient norm analysis, Q-value variance tracking, and policy entropy evolution — linking behavioral differences to on-policy vs. off-policy mechanics.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4. Experimental Methodology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41248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PPO (on-policy) vs SAC (off-policy) via Stable-Baselines3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 Policy &amp; Value: 2×256 ReLU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Hopper-v4, HalfCheetah-v4 (MuJoCo) + SafetyPointGoal1-v0 (Safety-Gym)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policy (per environment)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1,000,000 environment steps per run (matched)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independent seeds per condition (60 total runs)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8× SubprocVecEnv (vectorized environments)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2× NVIDIA RTX 3070 (8GB VRAM), 36 CPU cores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HP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LR ∈ {1e-4, 3e-4, 1e-3}, γ ∈ {0.99, 0.995}, BS ∈ {256, 1024}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 deterministic episodes per seed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Safety &amp; Stability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389120"/>
              </a:tblGrid>
              <a:tr h="6286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Action Smoothness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L2 norm of consecutive action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Jerky actions = mechanical wear on real robots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Constraint Violations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Hazard boundary breaches per episode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 measure of safety compliance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Feasibility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% episodes with zero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Reliability of safe operation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Recovery Ratio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Performance after state perturbation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Robustness to unexpected disturbances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Policy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Randomness of action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Exploration vs. exploitation balance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Q-Value Variance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Uncertainty of value estimates (SAC)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Confidence in decision making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Gradient Norms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Magnitude of parameter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Training stability indicator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5. Results Overview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28780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Mean ± standard error across 10 seeds, evaluated over 100 deterministic episodes each.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Hopper-v4 — Learning Curves</a:t>
            </a:r>
          </a:p>
        </p:txBody>
      </p:sp>
      <p:pic>
        <p:nvPicPr>
          <p:cNvPr id="3" name="Picture 2" descr="learning_curves_hopper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39438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37E"/>
                </a:solidFill>
              </a:defRPr>
            </a:pPr>
            <a:r>
              <a:t>Key Finding: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PPO (~2744) and SAC (~2762) achieve nearly identical final returns. Both algorithms solve this balance task equally well within the 1M step budget.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Hopper-v4 — Action Smoothness</a:t>
            </a:r>
          </a:p>
        </p:txBody>
      </p:sp>
      <p:pic>
        <p:nvPicPr>
          <p:cNvPr id="3" name="Picture 2" descr="action_smoothness_hopper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4752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PPO Smoothness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0.129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SAC Smoothness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32F2F"/>
                </a:solidFill>
                <a:latin typeface="Calibri"/>
              </a:defRPr>
            </a:pPr>
            <a:r>
              <a:t>0.397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43200"/>
            <a:ext cx="4389120" cy="22860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PPO's actions are 3× smoother than SAC's. On a physical robot, SAC's jerky motor commands would cause severe mechanical wear. PPO's trust-region clipping naturally produces stable, deployment-safe control signals.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Hopper-v4 — Gradient Norm Evolution</a:t>
            </a:r>
          </a:p>
        </p:txBody>
      </p:sp>
      <p:pic>
        <p:nvPicPr>
          <p:cNvPr id="3" name="Picture 2" descr="gradient_norms_envsteps_hopper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315200" cy="431921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237E"/>
                </a:solidFill>
              </a:defRPr>
            </a:pPr>
            <a:r>
              <a:t>Algorithmic Insight: PPO's gradient norms are flat and stable (clipped trust region). SAC's gradients spike violently (up to 2500), reflecting its aggressive entropy-maximizing exploration. This directly explains the 3× smoothness gap.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Hopper-v4 — Seed Variance</a:t>
            </a:r>
          </a:p>
        </p:txBody>
      </p:sp>
      <p:pic>
        <p:nvPicPr>
          <p:cNvPr id="3" name="Picture 2" descr="seed_variance_hopper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47525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371600"/>
            <a:ext cx="4389120" cy="27432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Both algorithms show consistent performance across all 10 seeds, confirming reproducibility.</a:t>
            </a:r>
          </a:p>
          <a:p>
            <a:pPr algn="l">
              <a:spcBef>
                <a:spcPts val="14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SAC has a slightly tighter IQR (±254 vs ±326), suggesting more deterministic convergence on this simple task.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HalfCheetah-v4 — Learning Curves</a:t>
            </a:r>
          </a:p>
        </p:txBody>
      </p:sp>
      <p:pic>
        <p:nvPicPr>
          <p:cNvPr id="3" name="Picture 2" descr="learning_curves_halfcheetah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39438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37E"/>
                </a:solidFill>
              </a:defRPr>
            </a:pPr>
            <a:r>
              <a:t>Key Finding: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SAC (~6270) dominates PPO (~1138) by 5.5×. In an environment where failure is impossible, SAC's aggressive exploration pays off massively.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HalfCheetah-v4 — Reward Hacking Phenomenon</a:t>
            </a:r>
          </a:p>
        </p:txBody>
      </p:sp>
      <p:pic>
        <p:nvPicPr>
          <p:cNvPr id="3" name="Picture 2" descr="action_smoothness_halfcheetah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47525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188720"/>
            <a:ext cx="4389120" cy="2011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⚠ Reward Hacking Detected!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PPO's agent learned to run completely upside down, sliding on its head. Its trust region prevented risky corrections, trapping it in this local optimum (~1100).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474720"/>
            <a:ext cx="4389120" cy="20116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333333"/>
                </a:solidFill>
              </a:defRPr>
            </a:pPr>
            <a:r>
              <a:t>SAC's entropy maximization forced it to keep trying chaotic movements, eventually discovering the upright running gait (~6270). This is a textbook stability-exploration tradeoff.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HalfCheetah-v4 — Gradient Norms &amp; Q-Value Variance</a:t>
            </a:r>
          </a:p>
        </p:txBody>
      </p:sp>
      <p:pic>
        <p:nvPicPr>
          <p:cNvPr id="3" name="Picture 2" descr="gradient_norms_envsteps_halfcheetah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315200" cy="431921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237E"/>
                </a:solidFill>
              </a:defRPr>
            </a:pPr>
            <a:r>
              <a:t>SAC's Q-value variance on HalfCheetah: 3.44 (vs 0.27 on Hopper — a 13× increase). The critic network is far less certain, yet this very uncertainty drives better exploration and dramatically higher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HalfCheetah-v4 — Seed Variance</a:t>
            </a:r>
          </a:p>
        </p:txBody>
      </p:sp>
      <p:pic>
        <p:nvPicPr>
          <p:cNvPr id="3" name="Picture 2" descr="seed_variance_halfcheetah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47525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371600"/>
            <a:ext cx="4389120" cy="32004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PPO shows remarkably low variance (±55) because all 10 seeds converged to the same local optimum (upside-down sliding).</a:t>
            </a:r>
          </a:p>
          <a:p>
            <a:pPr algn="l">
              <a:spcBef>
                <a:spcPts val="14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SAC has higher variance (±176) reflecting different exploration paths, but consistently achieves the superior upright gait.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6. SafetyPointGoal1-v0 — Learning Curves</a:t>
            </a:r>
          </a:p>
        </p:txBody>
      </p:sp>
      <p:pic>
        <p:nvPicPr>
          <p:cNvPr id="3" name="Picture 2" descr="learning_curves_safetypointgoal1_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39438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Both PPO and SAC achieve identical returns (~27.0). The real differentiation is in constraint violations, not reward.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SafetyPointGoal1-v0 — Constraint Violations</a:t>
            </a:r>
          </a:p>
        </p:txBody>
      </p:sp>
      <p:pic>
        <p:nvPicPr>
          <p:cNvPr id="3" name="Picture 2" descr="constraints_safetypointgoal1_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2341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PPO Mean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32F2F"/>
                </a:solidFill>
                <a:latin typeface="Calibri"/>
              </a:defRPr>
            </a:pPr>
            <a:r>
              <a:t>54.6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SAC Mean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50.3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PPO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33333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SAC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33333"/>
                </a:solidFill>
                <a:latin typeface="Calibri"/>
              </a:defRPr>
            </a:pPr>
            <a:r>
              <a:t>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840480"/>
            <a:ext cx="4389120" cy="18288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237E"/>
                </a:solidFill>
              </a:defRPr>
            </a:pPr>
            <a:r>
              <a:t>Surprise Finding: SAC achieves ~8% fewer violations than PPO. SAC's replay buffer allows it to memorize hazard locations from past experiences.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SafetyPointGoal1-v0 — Reward-Safety Tradeoff</a:t>
            </a:r>
          </a:p>
        </p:txBody>
      </p:sp>
      <p:pic>
        <p:nvPicPr>
          <p:cNvPr id="3" name="Picture 2" descr="reward_safety_safetypointgoal1_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475144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371600"/>
            <a:ext cx="3657600" cy="27432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Neither algorithm successfully learned to avoid hazards while maximizing reward. Both cluster in the high-cost region, highlighting the fundamental difficulty of safety-constrained RL without explicit cost penalties.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SafetyPointGoal1-v0 — Action Smoothness</a:t>
            </a:r>
          </a:p>
        </p:txBody>
      </p:sp>
      <p:pic>
        <p:nvPicPr>
          <p:cNvPr id="3" name="Picture 2" descr="action_smoothness_safetypointgoal1_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4752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PPO Smoothness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  <a:latin typeface="Calibri"/>
              </a:defRPr>
            </a:pPr>
            <a:r>
              <a:t>0.256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SAC Smoothness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0.135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43200"/>
            <a:ext cx="4389120" cy="22860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Interestingly, SAC produces smoother actions on the Safety env. The navigation task rewards precise movements toward the goal — and SAC's replay buffer helps it refine these smooth trajectories over 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SafetyPointGoal1-v0 — Gradient Norms</a:t>
            </a:r>
          </a:p>
        </p:txBody>
      </p:sp>
      <p:pic>
        <p:nvPicPr>
          <p:cNvPr id="3" name="Picture 2" descr="gradient_norms_envsteps_safetypointgoal1_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315200" cy="431921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237E"/>
                </a:solidFill>
              </a:defRPr>
            </a:pPr>
            <a:r>
              <a:t>Both algorithms show relatively stable gradient norms on this simpler navigation task, but SAC's occasional spikes correlate with episodes where the agent encounters novel hazard configurations.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Recovery from Perturbations</a:t>
            </a:r>
          </a:p>
        </p:txBody>
      </p:sp>
      <p:pic>
        <p:nvPicPr>
          <p:cNvPr id="3" name="Picture 2" descr="recove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7793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371600"/>
            <a:ext cx="4389120" cy="22860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237E"/>
                </a:solidFill>
              </a:defRPr>
            </a:pPr>
            <a:r>
              <a:t>Recovery Ratio &gt; 1.0 means the agent performed better after perturbation.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All conditions show ratios above 1.0, indicating both algorithms are robust to unexpected state disturbances — a positive sign for deployment.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4114800"/>
          <a:ext cx="4389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Hopper-v4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1.94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HalfCheetah-v4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SafetyPointGoal1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Sample Efficiency</a:t>
            </a:r>
          </a:p>
        </p:txBody>
      </p:sp>
      <p:pic>
        <p:nvPicPr>
          <p:cNvPr id="3" name="Picture 2" descr="sample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229600" cy="403320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237E"/>
                </a:solidFill>
              </a:defRPr>
            </a:pPr>
            <a:r>
              <a:t>SAC demonstrates superior sample efficiency on HalfCheetah, reaching performance thresholds significantly faster due to its replay buffer enabling data reuse. On Hopper, both algorithms converge at similar rates.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7. Qualitative Video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931920"/>
              </a:tblGrid>
              <a:tr h="65314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Behavior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Correlation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hopper-v4_ppo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Stable, repetitive, cautious hopping rhythm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Smoothness: 0.129 ✓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hopper-v4_sac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Wild, explosive micro-adjustments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Smoothness: 0.397 ✗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cheetah_ppo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Running completely upside down!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Return: 1138 (local opt.)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cheetah_sac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Upright, fast sprinting gait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Return: 6270 (global opt.)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safety_ppo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Clips hazard boundaries frequently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Cost: 54.6 violations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safety_sac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Course-corrects faster near hazards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Cost: 50.3 violations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All videos rendered at 30 fps using headless EGL GPU rendering on RTX 3070.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237E"/>
                </a:solidFill>
                <a:latin typeface="Calibri"/>
              </a:defRPr>
            </a:pPr>
            <a:r>
              <a:t>8. Discussion — Answering the Research Questions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20116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Primary RQ — When is PPO safer?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PPO is safer in physics-based balance tasks (Hopper) where its trust-region clipping produces 3× smoother actions. However, this same conservatism traps PPO in local optima (upside-down HalfCheetah), and in constrained navigation, SAC actually achieves fewer violations.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10698480" cy="27432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Secondary RQ — What mechanisms cause the differences?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PPO's clipped surrogate objective → stable gradients → smooth actions → but risk of local optima entrapment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SAC's entropy maximization → volatile gradients → jerky actions → but escapes local optima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SAC's replay buffer → data reuse → faster learning of spatial constraints → fewer safety violations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9418320" cy="1828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There is no universally "safer" algorithm.</a:t>
            </a:r>
          </a:p>
          <a:p>
            <a:pPr algn="ctr">
              <a:spcBef>
                <a:spcPts val="14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PPO excels at deployment safety (smooth, predictable actions)</a:t>
            </a:r>
          </a:p>
          <a:p>
            <a:pPr algn="ctr">
              <a:spcBef>
                <a:spcPts val="6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SAC excels at constraint compliance (fewer boundary violations)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333333"/>
                </a:solidFill>
                <a:latin typeface="Calibri"/>
              </a:defRPr>
            </a:pPr>
            <a:r>
              <a:t>The choice depends on what kind of safety matters most.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47472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484632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Safety Dimension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Action Smoothness (Hopper)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PPO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3× smoother (0.129 vs 0.397)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Exploration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83593"/>
                          </a:solidFill>
                          <a:latin typeface="Calibri"/>
                        </a:defRPr>
                      </a:pPr>
                      <a:r>
                        <a:t>SAC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Avoids local optima (6270 vs 1138)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Constraint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83593"/>
                          </a:solidFill>
                          <a:latin typeface="Calibri"/>
                        </a:defRPr>
                      </a:pPr>
                      <a:r>
                        <a:t>SAC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8% fewer violations (50.3 vs 54.6)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Gradient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PPO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Flat norms vs SAC's violent spikes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Recovery from Perturbation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Both &gt; 1.0 across all environments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9.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32F2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Only one safety environment tested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Standard SB3 implementations — no constrained RL (CPO, FOCOPS)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Fixed 1M step budget — longer training may change conclusions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MLP architecture only — no CNN/attention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No real-world hardware validation (sim-only)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Add constrained RL algorithms (CPO, FOCOPS, SafePPO)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Test more Safety-Gym environments (Car, Doggo)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Increase budget to 5–10M steps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Sim-to-real transfer on physical robot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Lagrangian reward shaping for cost minimization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Investigate reward hacking mitigation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Performed a rigorous, reproducible safety comparison of PPO vs SAC across 3 environments, 10 seeds each, with 7 custom safety metrics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PPO produces 3× smoother actions — critical for robotic deployment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SAC achieves 5.5× higher performance in unconstrained environments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SAC shows fewer constraint violations in safety-critical environments thanks to its replay buffer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Discovered a reward hacking phenomenon in PPO (HalfCheetah) — a direct consequence of over-conservative trust-region optimization</a:t>
            </a:r>
          </a:p>
          <a:p>
            <a:pPr algn="l">
              <a:spcBef>
                <a:spcPts val="1400"/>
              </a:spcBef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Recommendation: Use PPO when actuator wear matters; use SAC when constraint compliance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303520"/>
            <a:ext cx="8503920" cy="9144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A237E"/>
                </a:solidFill>
              </a:defRPr>
            </a:pPr>
            <a:r>
              <a:t>Code &amp; Data: github.com/patelharsh15/Training-and-Deployment-Safety-in-On-Policy-and-Off-Policy-RL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[1] Schulman et al., "Proximal Policy Optimization Algorithms," arXiv:1707.06347, 2017.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[2] Haarnoja et al., "Soft Actor-Critic: Off-Policy Maximum Entropy Deep RL," ICML, 2018.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[3] Henderson et al., "Deep Reinforcement Learning That Matters," AAAI, 2018.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[4] Engstrom et al., "Implementation Matters in Deep RL: A Case Study on PPO and TRPO," ICLR, 2020.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[5] Andrychowicz et al., "What Matters in On-Policy RL? A Large-Scale Empirical Study," ICLR, 2021.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[6] Ray et al., "Benchmarking Safe Exploration in Deep RL," OpenAI Technical Report, 2019.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[7] Ji et al., "Safety-Gymnasium: A Unified Safe RL Benchmark," NeurIPS, 2023.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[8] Achiam et al., "Constrained Policy Optimization," ICML, 2017.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237E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83593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Farina Salman  •  Rachna Sunilkumar Deshpande  •  Abdulaziz Al-Tayar  •  Harsh Patel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University of Ottawa — CSI 5180 / CEG 5270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486400"/>
            <a:ext cx="6675120" cy="7315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1A237E"/>
                </a:solidFill>
              </a:defRPr>
            </a:pPr>
            <a:r>
              <a:t>GitHub: github.com/patelharsh15/Training-and-Deployment-Safety-in-On-Policy-and-Off-Policy-RL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